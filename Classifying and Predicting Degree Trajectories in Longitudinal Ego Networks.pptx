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Robot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1B260AB-9871-489B-B8F6-7E00A30D8146}">
  <a:tblStyle styleId="{01B260AB-9871-489B-B8F6-7E00A30D814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Roboto-italic.fntdata"/><Relationship Id="rId10" Type="http://schemas.openxmlformats.org/officeDocument/2006/relationships/slide" Target="slides/slide4.xml"/><Relationship Id="rId32" Type="http://schemas.openxmlformats.org/officeDocument/2006/relationships/font" Target="fonts/Roboto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Roboto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20359f1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d20359f1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20359f1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20359f1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20359f1e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20359f1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20359f1e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20359f1e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20359f1e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20359f1e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20359f1e_1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20359f1e_1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0359f1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0359f1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20359f1e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d20359f1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20359f1e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20359f1e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d20359f1e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d20359f1e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0359f1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d20359f1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20359f1e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20359f1e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20359f1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20359f1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20359f1e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d20359f1e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20359f1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20359f1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20359f1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20359f1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0359f1e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d20359f1e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d324377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d324377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d3243774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d3243774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3243774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3243774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20359f1e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d20359f1e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32437746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32437746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20359f1e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20359f1e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hyperlink" Target="mailto:chandler.20@nd.edu" TargetMode="External"/><Relationship Id="rId4" Type="http://schemas.openxmlformats.org/officeDocument/2006/relationships/hyperlink" Target="mailto:dhachen@nd.edu" TargetMode="External"/><Relationship Id="rId5" Type="http://schemas.openxmlformats.org/officeDocument/2006/relationships/hyperlink" Target="http://nethealth.nd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445700" y="733425"/>
            <a:ext cx="6017100" cy="17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Classifying and Predicting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Degree Trajectories in</a:t>
            </a:r>
            <a:endParaRPr sz="3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Longitudinal Ego Networks</a:t>
            </a:r>
            <a:endParaRPr sz="3600"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788600" y="2643225"/>
            <a:ext cx="6793200" cy="14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Matthew J. Chandler &amp; David Hachen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University of Notre Dame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Interdisciplinary Center for Network Science and Applications</a:t>
            </a:r>
            <a:endParaRPr i="1"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/>
              <a:t>NetHealth Project</a:t>
            </a:r>
            <a:endParaRPr i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729300" y="4291075"/>
            <a:ext cx="3243300" cy="7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XXXVIII Sunbelt Conference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Utrecht, The Netherlands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28 June 2018</a:t>
            </a:r>
            <a:endParaRPr sz="12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311700" y="181400"/>
            <a:ext cx="8520600" cy="10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540300" y="1306175"/>
            <a:ext cx="3999900" cy="361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NetHealth Project Data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August 2015 - Present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720 Participants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Recruited in 3 tiers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406  pre-matriculation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94    upon matriculation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220  post-matriculation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Varying compliance rates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Surveyed 2-3 Times per Year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Personal attributes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Ego networks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Continuous Passive Observation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Mobile phone data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FitBit health/activity data</a:t>
            </a:r>
            <a:endParaRPr/>
          </a:p>
        </p:txBody>
      </p:sp>
      <p:sp>
        <p:nvSpPr>
          <p:cNvPr id="94" name="Google Shape;94;p14"/>
          <p:cNvSpPr txBox="1"/>
          <p:nvPr>
            <p:ph idx="2" type="body"/>
          </p:nvPr>
        </p:nvSpPr>
        <p:spPr>
          <a:xfrm>
            <a:off x="4235825" y="1306175"/>
            <a:ext cx="47487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Data Used for Degree Trajectory Analyses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First 6 Survey Waves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August 2015 - December 2017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450 Participants with: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At least 3 complete ego network surveys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Complete initial personal attributes survey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Mobile phone data compliance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1243" y="0"/>
            <a:ext cx="525809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1750" y="0"/>
            <a:ext cx="56204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3650" y="18875"/>
            <a:ext cx="6716700" cy="50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8988" y="44538"/>
            <a:ext cx="6826023" cy="505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38588" y="599113"/>
            <a:ext cx="5466826" cy="394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311700" y="181400"/>
            <a:ext cx="8520600" cy="113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Meaningful Patterns?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540300" y="1458575"/>
            <a:ext cx="42888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At Most: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Distinct Pathways for Egos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Systematic Associations with Ego Attributes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Predictable Trajectory Types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New Insights into Social Network Evolution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 txBox="1"/>
          <p:nvPr>
            <p:ph idx="2" type="body"/>
          </p:nvPr>
        </p:nvSpPr>
        <p:spPr>
          <a:xfrm>
            <a:off x="5410200" y="1458575"/>
            <a:ext cx="35745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At Least: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Worth Exploring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Classifying Degree Trajectories</a:t>
            </a:r>
            <a:endParaRPr/>
          </a:p>
        </p:txBody>
      </p:sp>
      <p:sp>
        <p:nvSpPr>
          <p:cNvPr id="132" name="Google Shape;132;p21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Deductive Approach:</a:t>
            </a:r>
            <a:br>
              <a:rPr b="1" lang="en" sz="1800"/>
            </a:br>
            <a:r>
              <a:rPr b="1" lang="en" sz="1800"/>
              <a:t>A Priori Logic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Define Meaningful Pathways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Up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Down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U-Shape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Etc.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Classify with a Decision Tree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Assign in order to ensure mutual exclusivity and reproducibility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Consolidate after elaborated assignment</a:t>
            </a:r>
            <a:endParaRPr/>
          </a:p>
        </p:txBody>
      </p:sp>
      <p:sp>
        <p:nvSpPr>
          <p:cNvPr id="133" name="Google Shape;133;p21"/>
          <p:cNvSpPr txBox="1"/>
          <p:nvPr>
            <p:ph idx="2" type="body"/>
          </p:nvPr>
        </p:nvSpPr>
        <p:spPr>
          <a:xfrm>
            <a:off x="4832400" y="1229975"/>
            <a:ext cx="3999900" cy="37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Inductive Approach:</a:t>
            </a:r>
            <a:br>
              <a:rPr b="1" lang="en" sz="1800"/>
            </a:br>
            <a:r>
              <a:rPr b="1" lang="en" sz="1800"/>
              <a:t>k-Means Clustering</a:t>
            </a:r>
            <a:endParaRPr b="1" sz="1800"/>
          </a:p>
          <a:p>
            <a:pPr indent="-31750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</a:pPr>
            <a:r>
              <a:rPr lang="en"/>
              <a:t>Decide how many clusters (k)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Iterate the algorithm on the data 1000 times for each k, 1 - 10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Compute mean distances from the centroids at each k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Select k values with the most prominent “elbows” in the mean distance curve</a:t>
            </a:r>
            <a:endParaRPr/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Select representative clusters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Iterate the algorithm another 1000 times chosen k value</a:t>
            </a:r>
            <a:endParaRPr/>
          </a:p>
          <a:p>
            <a:pPr indent="-3048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Select a particular set of clusters with mean distances closest to the central tendencies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200225"/>
            <a:ext cx="9143999" cy="4605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2974" y="130824"/>
            <a:ext cx="5198050" cy="4832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250" y="109750"/>
            <a:ext cx="9119948" cy="4720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9000" y="0"/>
            <a:ext cx="5365997" cy="5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8088" y="0"/>
            <a:ext cx="508782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6200"/>
            <a:ext cx="9144002" cy="4958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8"/>
          <p:cNvSpPr txBox="1"/>
          <p:nvPr>
            <p:ph type="title"/>
          </p:nvPr>
        </p:nvSpPr>
        <p:spPr>
          <a:xfrm>
            <a:off x="311700" y="181400"/>
            <a:ext cx="8520600" cy="11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Dependent Variables</a:t>
            </a:r>
            <a:endParaRPr/>
          </a:p>
        </p:txBody>
      </p:sp>
      <p:sp>
        <p:nvSpPr>
          <p:cNvPr id="169" name="Google Shape;169;p28"/>
          <p:cNvSpPr txBox="1"/>
          <p:nvPr>
            <p:ph idx="1" type="body"/>
          </p:nvPr>
        </p:nvSpPr>
        <p:spPr>
          <a:xfrm>
            <a:off x="692700" y="1306175"/>
            <a:ext cx="3999900" cy="36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Logical Classification</a:t>
            </a:r>
            <a:endParaRPr b="1" sz="18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8-Category Scheme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Flat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Monotonic Increase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Monotonic Decrease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Zig-Zag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Inverted-U Shape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 Shape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Upward Trend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Downward Trend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4-Category Scheme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Flat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Mixed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Up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Down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8"/>
          <p:cNvSpPr txBox="1"/>
          <p:nvPr>
            <p:ph idx="2" type="body"/>
          </p:nvPr>
        </p:nvSpPr>
        <p:spPr>
          <a:xfrm>
            <a:off x="4832400" y="1306175"/>
            <a:ext cx="3999900" cy="35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k-Means Clustering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Raw Trajectory Schemes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k</a:t>
            </a:r>
            <a:r>
              <a:rPr lang="en"/>
              <a:t> = 7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k</a:t>
            </a:r>
            <a:r>
              <a:rPr lang="en"/>
              <a:t> = 9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Zeroed-on-Mean Schemes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k</a:t>
            </a:r>
            <a:r>
              <a:rPr lang="en"/>
              <a:t> = 4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k</a:t>
            </a:r>
            <a:r>
              <a:rPr lang="en"/>
              <a:t> = 8</a:t>
            </a:r>
            <a:endParaRPr/>
          </a:p>
        </p:txBody>
      </p:sp>
      <p:sp>
        <p:nvSpPr>
          <p:cNvPr id="171" name="Google Shape;171;p28"/>
          <p:cNvSpPr txBox="1"/>
          <p:nvPr/>
        </p:nvSpPr>
        <p:spPr>
          <a:xfrm>
            <a:off x="5067300" y="3762375"/>
            <a:ext cx="3095700" cy="885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All dependent variables constructed from measurements concluding at or after the third survey wave.</a:t>
            </a:r>
            <a:endParaRPr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>
            <p:ph type="title"/>
          </p:nvPr>
        </p:nvSpPr>
        <p:spPr>
          <a:xfrm>
            <a:off x="311700" y="181400"/>
            <a:ext cx="85206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Independent Variables</a:t>
            </a:r>
            <a:endParaRPr/>
          </a:p>
        </p:txBody>
      </p:sp>
      <p:sp>
        <p:nvSpPr>
          <p:cNvPr id="177" name="Google Shape;177;p29"/>
          <p:cNvSpPr txBox="1"/>
          <p:nvPr>
            <p:ph idx="1" type="body"/>
          </p:nvPr>
        </p:nvSpPr>
        <p:spPr>
          <a:xfrm>
            <a:off x="692700" y="13823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Social Demographics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Sex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Race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Socio-Economic Status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Parents’ Income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Mother’s Education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Father’s Education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Citizenship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Language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Religion</a:t>
            </a:r>
            <a:endParaRPr/>
          </a:p>
        </p:txBody>
      </p:sp>
      <p:sp>
        <p:nvSpPr>
          <p:cNvPr id="178" name="Google Shape;178;p29"/>
          <p:cNvSpPr txBox="1"/>
          <p:nvPr>
            <p:ph idx="2" type="body"/>
          </p:nvPr>
        </p:nvSpPr>
        <p:spPr>
          <a:xfrm>
            <a:off x="4832400" y="13823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Personality Characteristics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Big Five Traits (Five Factor Model)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Agreeableness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Conscientiousness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Extraversion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Neuroticism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Openness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Trust Scale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800"/>
              <a:t>Related Personal Attributes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Birth Order</a:t>
            </a:r>
            <a:endParaRPr/>
          </a:p>
        </p:txBody>
      </p:sp>
      <p:sp>
        <p:nvSpPr>
          <p:cNvPr id="179" name="Google Shape;179;p29"/>
          <p:cNvSpPr txBox="1"/>
          <p:nvPr/>
        </p:nvSpPr>
        <p:spPr>
          <a:xfrm>
            <a:off x="311700" y="4276725"/>
            <a:ext cx="3543300" cy="666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All independent variables measured at or before the first degree measurement.</a:t>
            </a:r>
            <a:endParaRPr i="1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181400"/>
            <a:ext cx="8520600" cy="11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Modeling Strategy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540300" y="15347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Multinomial Logistic Regression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4 to 9 mutually exclusive categories per classification scheme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Largest class in scheme is always the reference category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Compare Multiple Fitted Models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6 different classification schemes as DVs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2 to 8 IVs per model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3 types of IV combinations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Social Demographics (5)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Personality Traits (3)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Mixed (6)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i="1" lang="en"/>
              <a:t>83 different models in total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(1 mixed model failed to converge)</a:t>
            </a:r>
            <a:endParaRPr/>
          </a:p>
        </p:txBody>
      </p:sp>
      <p:sp>
        <p:nvSpPr>
          <p:cNvPr id="186" name="Google Shape;186;p30"/>
          <p:cNvSpPr txBox="1"/>
          <p:nvPr>
            <p:ph idx="2" type="body"/>
          </p:nvPr>
        </p:nvSpPr>
        <p:spPr>
          <a:xfrm>
            <a:off x="4832400" y="15347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Methods of Model Comparison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Goodness-of-Fit Statistics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Chi-squared p-value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Pseudo R-squared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Parameter Significance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Tally across models</a:t>
            </a:r>
            <a:endParaRPr/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/>
              <a:t>Using p &lt; 0.05 level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Generated from STATA’s mlogit command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438" y="200025"/>
            <a:ext cx="6715125" cy="474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750" y="152400"/>
            <a:ext cx="6806502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0163" y="152400"/>
            <a:ext cx="6783668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3"/>
          <p:cNvSpPr txBox="1"/>
          <p:nvPr/>
        </p:nvSpPr>
        <p:spPr>
          <a:xfrm>
            <a:off x="1981225" y="3948125"/>
            <a:ext cx="1533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 = 23        </a:t>
            </a:r>
            <a:r>
              <a:rPr i="1" lang="en"/>
              <a:t>n </a:t>
            </a:r>
            <a:r>
              <a:rPr lang="en"/>
              <a:t>= 7</a:t>
            </a:r>
            <a:endParaRPr/>
          </a:p>
        </p:txBody>
      </p:sp>
      <p:sp>
        <p:nvSpPr>
          <p:cNvPr id="203" name="Google Shape;203;p33"/>
          <p:cNvSpPr txBox="1"/>
          <p:nvPr/>
        </p:nvSpPr>
        <p:spPr>
          <a:xfrm>
            <a:off x="3929100" y="3948125"/>
            <a:ext cx="15336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 = 12        </a:t>
            </a:r>
            <a:r>
              <a:rPr i="1" lang="en"/>
              <a:t>n </a:t>
            </a:r>
            <a:r>
              <a:rPr lang="en"/>
              <a:t>= 6</a:t>
            </a:r>
            <a:endParaRPr/>
          </a:p>
        </p:txBody>
      </p:sp>
      <p:sp>
        <p:nvSpPr>
          <p:cNvPr id="204" name="Google Shape;204;p33"/>
          <p:cNvSpPr txBox="1"/>
          <p:nvPr/>
        </p:nvSpPr>
        <p:spPr>
          <a:xfrm>
            <a:off x="5900775" y="3948125"/>
            <a:ext cx="1605000" cy="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n</a:t>
            </a:r>
            <a:r>
              <a:rPr lang="en"/>
              <a:t> = 21       </a:t>
            </a:r>
            <a:r>
              <a:rPr i="1" lang="en"/>
              <a:t>n </a:t>
            </a:r>
            <a:r>
              <a:rPr lang="en"/>
              <a:t>= 14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by Variable</a:t>
            </a:r>
            <a:endParaRPr/>
          </a:p>
        </p:txBody>
      </p:sp>
      <p:graphicFrame>
        <p:nvGraphicFramePr>
          <p:cNvPr id="210" name="Google Shape;210;p34"/>
          <p:cNvGraphicFramePr/>
          <p:nvPr/>
        </p:nvGraphicFramePr>
        <p:xfrm>
          <a:off x="742975" y="17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{01B260AB-9871-489B-B8F6-7E00A30D8146}</a:tableStyleId>
              </a:tblPr>
              <a:tblGrid>
                <a:gridCol w="2029350"/>
                <a:gridCol w="1775875"/>
              </a:tblGrid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Variable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Pr. Models p&lt;0.05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Sex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0.14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Race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Parents’ Income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Mother’s Education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Father’s Education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Citizenship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Language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Religion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0.08</a:t>
                      </a:r>
                      <a:endParaRPr/>
                    </a:p>
                  </a:txBody>
                  <a:tcPr marT="91425" marB="0" marR="91425" marL="91425"/>
                </a:tc>
              </a:tr>
            </a:tbl>
          </a:graphicData>
        </a:graphic>
      </p:graphicFrame>
      <p:graphicFrame>
        <p:nvGraphicFramePr>
          <p:cNvPr id="211" name="Google Shape;211;p34"/>
          <p:cNvGraphicFramePr/>
          <p:nvPr/>
        </p:nvGraphicFramePr>
        <p:xfrm>
          <a:off x="4876800" y="170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{01B260AB-9871-489B-B8F6-7E00A30D8146}</a:tableStyleId>
              </a:tblPr>
              <a:tblGrid>
                <a:gridCol w="1887125"/>
                <a:gridCol w="1722850"/>
              </a:tblGrid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Variable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Pr. Models p&lt;0.05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Agreeableness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0.19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Conscientiousness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0.17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Extraversion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0.85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Neuroticism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0.53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Openness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0.43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Trust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0.54</a:t>
                      </a:r>
                      <a:endParaRPr/>
                    </a:p>
                  </a:txBody>
                  <a:tcPr marT="91425" marB="0" marR="91425" marL="91425"/>
                </a:tc>
              </a:tr>
              <a:tr h="3484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Birth Order</a:t>
                      </a:r>
                      <a:endParaRPr/>
                    </a:p>
                  </a:txBody>
                  <a:tcPr marT="91425" marB="0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0.00</a:t>
                      </a:r>
                      <a:endParaRPr/>
                    </a:p>
                  </a:txBody>
                  <a:tcPr marT="91425" marB="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5"/>
          <p:cNvSpPr txBox="1"/>
          <p:nvPr>
            <p:ph type="title"/>
          </p:nvPr>
        </p:nvSpPr>
        <p:spPr>
          <a:xfrm>
            <a:off x="311700" y="181400"/>
            <a:ext cx="8520600" cy="104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Predicting Degree Trajectories: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Summary</a:t>
            </a:r>
            <a:endParaRPr/>
          </a:p>
        </p:txBody>
      </p:sp>
      <p:sp>
        <p:nvSpPr>
          <p:cNvPr id="217" name="Google Shape;217;p35"/>
          <p:cNvSpPr txBox="1"/>
          <p:nvPr>
            <p:ph idx="1" type="body"/>
          </p:nvPr>
        </p:nvSpPr>
        <p:spPr>
          <a:xfrm>
            <a:off x="540300" y="14585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Lessons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Personality models in general fit better than demographic or mixed models-- across all degree trajectory classification schemes.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Big Five have the strongest associations with degree trajectories.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Race and Trust also appear to affect degree trajectories.</a:t>
            </a:r>
            <a:endParaRPr/>
          </a:p>
        </p:txBody>
      </p:sp>
      <p:sp>
        <p:nvSpPr>
          <p:cNvPr id="218" name="Google Shape;218;p35"/>
          <p:cNvSpPr txBox="1"/>
          <p:nvPr>
            <p:ph idx="2" type="body"/>
          </p:nvPr>
        </p:nvSpPr>
        <p:spPr>
          <a:xfrm>
            <a:off x="4832400" y="14585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Caveats</a:t>
            </a:r>
            <a:endParaRPr b="1" sz="1800"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None of the models can predict degree trajectories with substantial accuracy.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Variations between degree trajectory classification schemes not covered here.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Interactions among independent variables not yet tested.</a:t>
            </a:r>
            <a:endParaRPr/>
          </a:p>
          <a:p>
            <a:pPr indent="-317500" lvl="0" marL="457200" rtl="0" algn="l">
              <a:spcBef>
                <a:spcPts val="1000"/>
              </a:spcBef>
              <a:spcAft>
                <a:spcPts val="1000"/>
              </a:spcAft>
              <a:buSzPts val="1400"/>
              <a:buChar char="●"/>
            </a:pPr>
            <a:r>
              <a:rPr lang="en"/>
              <a:t>Plenty more work to do!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type="title"/>
          </p:nvPr>
        </p:nvSpPr>
        <p:spPr>
          <a:xfrm>
            <a:off x="598100" y="7045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224" name="Google Shape;224;p36"/>
          <p:cNvSpPr txBox="1"/>
          <p:nvPr/>
        </p:nvSpPr>
        <p:spPr>
          <a:xfrm>
            <a:off x="962025" y="1728800"/>
            <a:ext cx="6324600" cy="29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Matthew J. Chandler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Postdoctoral Research Fellow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CCCC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chandler.20@nd.edu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David Hachen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Associate Professor of Sociology and Senior Investigator</a:t>
            </a:r>
            <a:endParaRPr i="1"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CCCCCC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dhachen@nd.edu</a:t>
            </a:r>
            <a:endParaRPr sz="1200"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NetHealth Project</a:t>
            </a:r>
            <a:endParaRPr b="1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FFFFFF"/>
                </a:solidFill>
              </a:rPr>
              <a:t>Interdisciplinary Center for Network Science and Applications</a:t>
            </a:r>
            <a:endParaRPr i="1"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FFFFFF"/>
                </a:solidFill>
              </a:rPr>
              <a:t>University of Notre Dame</a:t>
            </a:r>
            <a:endParaRPr i="1" sz="12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CCCCCC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http://nethealth.nd.edu</a:t>
            </a:r>
            <a:endParaRPr sz="1200">
              <a:solidFill>
                <a:srgbClr val="CCCCC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